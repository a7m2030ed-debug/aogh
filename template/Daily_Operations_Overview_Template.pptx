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ily Overview" id="{ec37cd74-a9af-150d-d972-459e4ac6e53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Definitions: Clinic Slots = scheduled capacity of all non-emergency clinics (sum of 'Scheduled'). Clinic Seen = total seen in clinics incl. walk-ins. Utilization = Clinic Seen ÷ Clinic Slots. Emergency = total seen in Emergency Department. Total Seen = Clinic + Emergency. No-Show = missed appointments; rate = missed ÷ (attended + missed) booked appointments.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68735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Meen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332" y="457200"/>
            <a:ext cx="1712563" cy="4572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365760"/>
            <a:ext cx="640080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786384"/>
            <a:ext cx="64008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B4C2DC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7208215" y="64190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Meena Health Centers  ·  Daily Operations Overview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3657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Daily Operations Overview</a:t>
            </a:r>
            <a:endParaRPr lang="en-US" sz="2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85800" y="7863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C2DC"/>
                </a:solidFill>
              </a:rPr>
              <a:t>Meena Primary Health Care Centers  ·  Consolidated Branch Performance</a:t>
            </a:r>
            <a:endParaRPr lang="en-US" sz="1200" dirty="0"/>
          </a:p>
        </p:txBody>
      </p:sp>
      <p:sp>
        <p:nvSpPr>
          <p:cNvPr id="4" name="Header divider"/>
          <p:cNvSpPr/>
          <p:nvPr/>
        </p:nvSpPr>
        <p:spPr>
          <a:xfrm>
            <a:off x="9519012" y="457200"/>
            <a:ext cx="0" cy="45720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5" name="Report date"/>
          <p:cNvSpPr txBox="1"/>
          <p:nvPr/>
        </p:nvSpPr>
        <p:spPr>
          <a:xfrm>
            <a:off x="6592932" y="411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4C2DC"/>
                </a:solidFill>
              </a:rPr>
              <a:t>REPORT DATE</a:t>
            </a:r>
            <a:endParaRPr lang="en-US" sz="900" dirty="0"/>
          </a:p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Friday, 16 October 2026</a:t>
            </a:r>
            <a:endParaRPr lang="en-US" sz="900" dirty="0"/>
          </a:p>
        </p:txBody>
      </p:sp>
      <p:sp>
        <p:nvSpPr>
          <p:cNvPr id="6" name="KPI TOTAL PATIENTS"/>
          <p:cNvSpPr/>
          <p:nvPr/>
        </p:nvSpPr>
        <p:spPr>
          <a:xfrm>
            <a:off x="411480" y="1280160"/>
            <a:ext cx="2127443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KPI icon bg 0"/>
          <p:cNvSpPr/>
          <p:nvPr/>
        </p:nvSpPr>
        <p:spPr>
          <a:xfrm>
            <a:off x="2036003" y="1408176"/>
            <a:ext cx="365760" cy="365760"/>
          </a:xfrm>
          <a:prstGeom prst="ellipse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</p:sp>
      <p:pic>
        <p:nvPicPr>
          <p:cNvPr id="8" name="Image 0" descr="TOTAL PATI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7443" y="1499616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6072" y="1389888"/>
            <a:ext cx="13959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</a:rPr>
              <a:t>TOTAL PATIENTS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76072" y="1609344"/>
            <a:ext cx="139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729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76072" y="1920240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Clinic + Emergency · 11 branches</a:t>
            </a:r>
            <a:endParaRPr lang="en-US" sz="950" dirty="0"/>
          </a:p>
        </p:txBody>
      </p:sp>
      <p:sp>
        <p:nvSpPr>
          <p:cNvPr id="12" name="KPI CLINIC VISITS"/>
          <p:cNvSpPr/>
          <p:nvPr/>
        </p:nvSpPr>
        <p:spPr>
          <a:xfrm>
            <a:off x="2721803" y="1280160"/>
            <a:ext cx="2127443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KPI icon bg 1"/>
          <p:cNvSpPr/>
          <p:nvPr/>
        </p:nvSpPr>
        <p:spPr>
          <a:xfrm>
            <a:off x="4346326" y="1408176"/>
            <a:ext cx="365760" cy="365760"/>
          </a:xfrm>
          <a:prstGeom prst="ellipse">
            <a:avLst/>
          </a:prstGeom>
          <a:solidFill>
            <a:srgbClr val="7C5CFA"/>
          </a:solidFill>
          <a:ln w="12700">
            <a:solidFill>
              <a:srgbClr val="7C5CFA"/>
            </a:solidFill>
            <a:prstDash val="solid"/>
          </a:ln>
        </p:spPr>
      </p:sp>
      <p:pic>
        <p:nvPicPr>
          <p:cNvPr id="14" name="Image 1" descr="CLINIC VISI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766" y="1499616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86395" y="1389888"/>
            <a:ext cx="13959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</a:rPr>
              <a:t>CLINIC VISITS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2886395" y="1609344"/>
            <a:ext cx="139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416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886395" y="1920240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of 576 scheduled slots</a:t>
            </a:r>
            <a:endParaRPr lang="en-US" sz="950" dirty="0"/>
          </a:p>
        </p:txBody>
      </p:sp>
      <p:sp>
        <p:nvSpPr>
          <p:cNvPr id="18" name="KPI CLINIC UTILIZATION"/>
          <p:cNvSpPr/>
          <p:nvPr/>
        </p:nvSpPr>
        <p:spPr>
          <a:xfrm>
            <a:off x="5032126" y="1280160"/>
            <a:ext cx="2127443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KPI icon bg 2"/>
          <p:cNvSpPr/>
          <p:nvPr/>
        </p:nvSpPr>
        <p:spPr>
          <a:xfrm>
            <a:off x="6656649" y="1408176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0" name="Image 2" descr="CLINIC UTILIZ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089" y="1499616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196718" y="1389888"/>
            <a:ext cx="13959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</a:rPr>
              <a:t>CLINIC UTILIZATION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5196718" y="1609344"/>
            <a:ext cx="139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10C"/>
                </a:solidFill>
              </a:rPr>
              <a:t>72.2%</a:t>
            </a:r>
            <a:endParaRPr lang="en-US" sz="2400" dirty="0"/>
          </a:p>
        </p:txBody>
      </p:sp>
      <p:sp>
        <p:nvSpPr>
          <p:cNvPr id="23" name="Text 18"/>
          <p:cNvSpPr txBox="1"/>
          <p:nvPr/>
        </p:nvSpPr>
        <p:spPr>
          <a:xfrm>
            <a:off x="5196718" y="1920240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Clinic visits ÷ slots</a:t>
            </a:r>
            <a:endParaRPr lang="en-US" sz="950" dirty="0"/>
          </a:p>
        </p:txBody>
      </p:sp>
      <p:sp>
        <p:nvSpPr>
          <p:cNvPr id="24" name="KPI EMERGENCY VISITS"/>
          <p:cNvSpPr/>
          <p:nvPr/>
        </p:nvSpPr>
        <p:spPr>
          <a:xfrm>
            <a:off x="7342449" y="1280160"/>
            <a:ext cx="2127443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KPI icon bg 3"/>
          <p:cNvSpPr/>
          <p:nvPr/>
        </p:nvSpPr>
        <p:spPr>
          <a:xfrm>
            <a:off x="8966972" y="1408176"/>
            <a:ext cx="365760" cy="36576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26" name="Image 3" descr="EMERGENCY VISI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8412" y="1499616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507041" y="1389888"/>
            <a:ext cx="13959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</a:rPr>
              <a:t>EMERGENCY VISITS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7507041" y="1609344"/>
            <a:ext cx="139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313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7507041" y="1920240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 branches with emergency</a:t>
            </a:r>
            <a:endParaRPr lang="en-US" sz="950" dirty="0"/>
          </a:p>
        </p:txBody>
      </p:sp>
      <p:sp>
        <p:nvSpPr>
          <p:cNvPr id="30" name="KPI NO-SHOW"/>
          <p:cNvSpPr/>
          <p:nvPr/>
        </p:nvSpPr>
        <p:spPr>
          <a:xfrm>
            <a:off x="9652772" y="1280160"/>
            <a:ext cx="2127443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KPI icon bg 4"/>
          <p:cNvSpPr/>
          <p:nvPr/>
        </p:nvSpPr>
        <p:spPr>
          <a:xfrm>
            <a:off x="11277295" y="1408176"/>
            <a:ext cx="365760" cy="3657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32" name="Image 4" descr="NO-SH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8735" y="1499616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817364" y="1389888"/>
            <a:ext cx="13959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</a:rPr>
              <a:t>NO-SHOW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9817364" y="1609344"/>
            <a:ext cx="139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57</a:t>
            </a:r>
            <a:endParaRPr lang="en-US" sz="2400" dirty="0"/>
          </a:p>
        </p:txBody>
      </p:sp>
      <p:sp>
        <p:nvSpPr>
          <p:cNvPr id="35" name="Text 28"/>
          <p:cNvSpPr txBox="1"/>
          <p:nvPr/>
        </p:nvSpPr>
        <p:spPr>
          <a:xfrm>
            <a:off x="9817364" y="1920240"/>
            <a:ext cx="18531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13.3% of booked appointments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41148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Branch Performance Ledger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452628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Centers with emergency first, then clinics · sorted by total patients</a:t>
            </a:r>
            <a:endParaRPr lang="en-US" sz="950" dirty="0"/>
          </a:p>
        </p:txBody>
      </p:sp>
      <p:graphicFrame>
        <p:nvGraphicFramePr>
          <p:cNvPr id="2" name="Branch ledg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79192"/>
          <a:ext cx="79552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60120"/>
                <a:gridCol w="960120"/>
                <a:gridCol w="1188720"/>
                <a:gridCol w="1143000"/>
                <a:gridCol w="10515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 SLOTS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 SEEN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NO-SHOW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E3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Rawdah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Malqa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Worood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Suwaidi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Abhour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Dammam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Khobar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Sulimaniyah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Rabie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Hittin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Qairawan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0AE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F1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F1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F1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F1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F1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F1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E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0F1E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6EAF2"/>
                    </a:solidFill>
                  </a:tcPr>
                </a:tc>
              </a:tr>
            </a:tbl>
          </a:graphicData>
        </a:graphic>
      </p:graphicFrame>
      <p:sp>
        <p:nvSpPr>
          <p:cNvPr id="39" name="Text 31"/>
          <p:cNvSpPr txBox="1"/>
          <p:nvPr/>
        </p:nvSpPr>
        <p:spPr>
          <a:xfrm>
            <a:off x="86410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Key Notes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10104120" y="2331720"/>
            <a:ext cx="1676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vs Last Friday · 9 Oct 2026</a:t>
            </a:r>
            <a:endParaRPr lang="en-US" sz="950" dirty="0"/>
          </a:p>
        </p:txBody>
      </p:sp>
      <p:sp>
        <p:nvSpPr>
          <p:cNvPr id="41" name="Notes panel"/>
          <p:cNvSpPr/>
          <p:nvPr/>
        </p:nvSpPr>
        <p:spPr>
          <a:xfrm>
            <a:off x="8641080" y="2679192"/>
            <a:ext cx="3139135" cy="3630168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Note 1 marker"/>
          <p:cNvSpPr/>
          <p:nvPr/>
        </p:nvSpPr>
        <p:spPr>
          <a:xfrm>
            <a:off x="8842248" y="2898648"/>
            <a:ext cx="274320" cy="2743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43" name="Image 5" descr="Decli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2971800"/>
            <a:ext cx="128016" cy="128016"/>
          </a:xfrm>
          <a:prstGeom prst="rect">
            <a:avLst/>
          </a:prstGeom>
        </p:spPr>
      </p:pic>
      <p:sp>
        <p:nvSpPr>
          <p:cNvPr id="44" name="Note 1"/>
          <p:cNvSpPr txBox="1"/>
          <p:nvPr/>
        </p:nvSpPr>
        <p:spPr>
          <a:xfrm>
            <a:off x="9244584" y="2880360"/>
            <a:ext cx="2334463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Total patients </a:t>
            </a:r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down 127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vs last Friday</a:t>
            </a:r>
            <a:endParaRPr lang="en-US" sz="1100" dirty="0"/>
          </a:p>
        </p:txBody>
      </p:sp>
      <p:sp>
        <p:nvSpPr>
          <p:cNvPr id="45" name="Note 2 marker"/>
          <p:cNvSpPr/>
          <p:nvPr/>
        </p:nvSpPr>
        <p:spPr>
          <a:xfrm>
            <a:off x="8842248" y="3440430"/>
            <a:ext cx="274320" cy="2743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46" name="Image 6" descr="Decli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3513582"/>
            <a:ext cx="128016" cy="128016"/>
          </a:xfrm>
          <a:prstGeom prst="rect">
            <a:avLst/>
          </a:prstGeom>
        </p:spPr>
      </p:pic>
      <p:sp>
        <p:nvSpPr>
          <p:cNvPr id="47" name="Note 2"/>
          <p:cNvSpPr txBox="1"/>
          <p:nvPr/>
        </p:nvSpPr>
        <p:spPr>
          <a:xfrm>
            <a:off x="9244584" y="3422142"/>
            <a:ext cx="2334463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Emergency </a:t>
            </a:r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down at all branches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except </a:t>
            </a:r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Dammam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and </a:t>
            </a:r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Al Khobar</a:t>
            </a:r>
            <a:endParaRPr lang="en-US" sz="1100" dirty="0"/>
          </a:p>
        </p:txBody>
      </p:sp>
      <p:sp>
        <p:nvSpPr>
          <p:cNvPr id="48" name="Note 3 marker"/>
          <p:cNvSpPr/>
          <p:nvPr/>
        </p:nvSpPr>
        <p:spPr>
          <a:xfrm>
            <a:off x="8842248" y="3982212"/>
            <a:ext cx="274320" cy="27432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49" name="Image 7" descr="Decli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4055364"/>
            <a:ext cx="128016" cy="128016"/>
          </a:xfrm>
          <a:prstGeom prst="rect">
            <a:avLst/>
          </a:prstGeom>
        </p:spPr>
      </p:pic>
      <p:sp>
        <p:nvSpPr>
          <p:cNvPr id="50" name="Note 3"/>
          <p:cNvSpPr txBox="1"/>
          <p:nvPr/>
        </p:nvSpPr>
        <p:spPr>
          <a:xfrm>
            <a:off x="9244584" y="3963924"/>
            <a:ext cx="2334463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Clinic visits also </a:t>
            </a:r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down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at </a:t>
            </a:r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Al Qairawan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and </a:t>
            </a:r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Al Rabie</a:t>
            </a:r>
            <a:endParaRPr lang="en-US" sz="1100" dirty="0"/>
          </a:p>
        </p:txBody>
      </p:sp>
      <p:sp>
        <p:nvSpPr>
          <p:cNvPr id="51" name="Note 4 marker"/>
          <p:cNvSpPr/>
          <p:nvPr/>
        </p:nvSpPr>
        <p:spPr>
          <a:xfrm>
            <a:off x="8842248" y="4523994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52" name="Image 8" descr="Improvemen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4597146"/>
            <a:ext cx="128016" cy="128016"/>
          </a:xfrm>
          <a:prstGeom prst="rect">
            <a:avLst/>
          </a:prstGeom>
        </p:spPr>
      </p:pic>
      <p:sp>
        <p:nvSpPr>
          <p:cNvPr id="53" name="Note 4"/>
          <p:cNvSpPr txBox="1"/>
          <p:nvPr/>
        </p:nvSpPr>
        <p:spPr>
          <a:xfrm>
            <a:off x="9244584" y="4505706"/>
            <a:ext cx="2334463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No-show cases </a:t>
            </a:r>
            <a:pPr indent="0" marL="0">
              <a:buNone/>
            </a:pPr>
            <a:r>
              <a:rPr lang="en-US" sz="1100" b="1" dirty="0">
                <a:solidFill>
                  <a:srgbClr val="0F1E3C"/>
                </a:solidFill>
              </a:rPr>
              <a:t>down 63 patients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vs last Friday</a:t>
            </a:r>
            <a:endParaRPr lang="en-US" sz="1100" dirty="0"/>
          </a:p>
        </p:txBody>
      </p:sp>
      <p:sp>
        <p:nvSpPr>
          <p:cNvPr id="54" name="Legend divider"/>
          <p:cNvSpPr/>
          <p:nvPr/>
        </p:nvSpPr>
        <p:spPr>
          <a:xfrm>
            <a:off x="8842248" y="5157216"/>
            <a:ext cx="27367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8842248" y="5248656"/>
            <a:ext cx="273679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</a:rPr>
              <a:t>UTILIZATION SCALE</a:t>
            </a:r>
            <a:endParaRPr lang="en-US" sz="950" dirty="0"/>
          </a:p>
        </p:txBody>
      </p:sp>
      <p:sp>
        <p:nvSpPr>
          <p:cNvPr id="56" name="Legend chip ≥100%"/>
          <p:cNvSpPr/>
          <p:nvPr/>
        </p:nvSpPr>
        <p:spPr>
          <a:xfrm>
            <a:off x="8842248" y="5504688"/>
            <a:ext cx="603504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8842248" y="550468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≥100%</a:t>
            </a:r>
            <a:endParaRPr lang="en-US" sz="950" dirty="0"/>
          </a:p>
        </p:txBody>
      </p:sp>
      <p:sp>
        <p:nvSpPr>
          <p:cNvPr id="58" name="Text 46"/>
          <p:cNvSpPr txBox="1"/>
          <p:nvPr/>
        </p:nvSpPr>
        <p:spPr>
          <a:xfrm>
            <a:off x="9518904" y="5504688"/>
            <a:ext cx="646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Exceeded</a:t>
            </a:r>
            <a:endParaRPr lang="en-US" sz="1000" dirty="0"/>
          </a:p>
        </p:txBody>
      </p:sp>
      <p:sp>
        <p:nvSpPr>
          <p:cNvPr id="59" name="Legend chip 80–99%"/>
          <p:cNvSpPr/>
          <p:nvPr/>
        </p:nvSpPr>
        <p:spPr>
          <a:xfrm>
            <a:off x="10256368" y="5504688"/>
            <a:ext cx="603504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10256368" y="550468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80–99%</a:t>
            </a:r>
            <a:endParaRPr lang="en-US" sz="950" dirty="0"/>
          </a:p>
        </p:txBody>
      </p:sp>
      <p:sp>
        <p:nvSpPr>
          <p:cNvPr id="61" name="Text 49"/>
          <p:cNvSpPr txBox="1"/>
          <p:nvPr/>
        </p:nvSpPr>
        <p:spPr>
          <a:xfrm>
            <a:off x="10933024" y="5504688"/>
            <a:ext cx="646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On target</a:t>
            </a:r>
            <a:endParaRPr lang="en-US" sz="1000" dirty="0"/>
          </a:p>
        </p:txBody>
      </p:sp>
      <p:sp>
        <p:nvSpPr>
          <p:cNvPr id="62" name="Legend chip 50–79%"/>
          <p:cNvSpPr/>
          <p:nvPr/>
        </p:nvSpPr>
        <p:spPr>
          <a:xfrm>
            <a:off x="8842248" y="5833872"/>
            <a:ext cx="603504" cy="237744"/>
          </a:xfrm>
          <a:prstGeom prst="roundRect">
            <a:avLst>
              <a:gd name="adj" fmla="val 23077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63" name="Text 51"/>
          <p:cNvSpPr txBox="1"/>
          <p:nvPr/>
        </p:nvSpPr>
        <p:spPr>
          <a:xfrm>
            <a:off x="8842248" y="583387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10C"/>
                </a:solidFill>
              </a:rPr>
              <a:t>50–79%</a:t>
            </a:r>
            <a:endParaRPr lang="en-US" sz="950" dirty="0"/>
          </a:p>
        </p:txBody>
      </p:sp>
      <p:sp>
        <p:nvSpPr>
          <p:cNvPr id="64" name="Text 52"/>
          <p:cNvSpPr txBox="1"/>
          <p:nvPr/>
        </p:nvSpPr>
        <p:spPr>
          <a:xfrm>
            <a:off x="9518904" y="5833872"/>
            <a:ext cx="646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Watch</a:t>
            </a:r>
            <a:endParaRPr lang="en-US" sz="1000" dirty="0"/>
          </a:p>
        </p:txBody>
      </p:sp>
      <p:sp>
        <p:nvSpPr>
          <p:cNvPr id="65" name="Legend chip &lt;50%"/>
          <p:cNvSpPr/>
          <p:nvPr/>
        </p:nvSpPr>
        <p:spPr>
          <a:xfrm>
            <a:off x="10256368" y="5833872"/>
            <a:ext cx="603504" cy="237744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6" name="Text 54"/>
          <p:cNvSpPr txBox="1"/>
          <p:nvPr/>
        </p:nvSpPr>
        <p:spPr>
          <a:xfrm>
            <a:off x="10256368" y="583387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&lt;50%</a:t>
            </a:r>
            <a:endParaRPr lang="en-US" sz="950" dirty="0"/>
          </a:p>
        </p:txBody>
      </p:sp>
      <p:sp>
        <p:nvSpPr>
          <p:cNvPr id="67" name="Text 55"/>
          <p:cNvSpPr txBox="1"/>
          <p:nvPr/>
        </p:nvSpPr>
        <p:spPr>
          <a:xfrm>
            <a:off x="10933024" y="5833872"/>
            <a:ext cx="646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Low</a:t>
            </a:r>
            <a:endParaRPr lang="en-US" sz="1000" dirty="0"/>
          </a:p>
        </p:txBody>
      </p:sp>
      <p:sp>
        <p:nvSpPr>
          <p:cNvPr id="68" name="Text 56"/>
          <p:cNvSpPr txBox="1"/>
          <p:nvPr/>
        </p:nvSpPr>
        <p:spPr>
          <a:xfrm>
            <a:off x="411480" y="6419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Source: MIS · Appointment Statistics – Doctor Wise · 16-Oct-2026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ena Daily Ops">
  <a:themeElements>
    <a:clrScheme name="Meena Daily Ops">
      <a:dk1>
        <a:srgbClr val="1E293B"/>
      </a:dk1>
      <a:lt1>
        <a:srgbClr val="FFFFFF"/>
      </a:lt1>
      <a:dk2>
        <a:srgbClr val="0F1E3C"/>
      </a:dk2>
      <a:lt2>
        <a:srgbClr val="F3F5FA"/>
      </a:lt2>
      <a:accent1>
        <a:srgbClr val="7C5CFA"/>
      </a:accent1>
      <a:accent2>
        <a:srgbClr val="2563EB"/>
      </a:accent2>
      <a:accent3>
        <a:srgbClr val="15803D"/>
      </a:accent3>
      <a:accent4>
        <a:srgbClr val="C2410C"/>
      </a:accent4>
      <a:accent5>
        <a:srgbClr val="B91C1C"/>
      </a:accent5>
      <a:accent6>
        <a:srgbClr val="64748B"/>
      </a:accent6>
      <a:hlink>
        <a:srgbClr val="2563EB"/>
      </a:hlink>
      <a:folHlink>
        <a:srgbClr val="7C5CFA"/>
      </a:folHlink>
    </a:clrScheme>
    <a:fontScheme name="Meena Daily O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Meena Primary Health Care Centers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Operations Overview - 16-Oct-2026</dc:title>
  <dc:subject>PptxGenJS Presentation</dc:subject>
  <dc:creator>Meena Health Centers</dc:creator>
  <cp:lastModifiedBy>Meena Health Centers</cp:lastModifiedBy>
  <cp:revision>1</cp:revision>
  <dcterms:created xsi:type="dcterms:W3CDTF">2026-10-16T21:26:37Z</dcterms:created>
  <dcterms:modified xsi:type="dcterms:W3CDTF">2026-10-16T21:26:37Z</dcterms:modified>
</cp:coreProperties>
</file>